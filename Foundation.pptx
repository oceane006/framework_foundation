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257" r:id="rId5"/>
    <p:sldId id="268" r:id="rId6"/>
    <p:sldId id="269" r:id="rId7"/>
    <p:sldId id="270" r:id="rId8"/>
    <p:sldId id="271" r:id="rId9"/>
    <p:sldId id="278" r:id="rId10"/>
    <p:sldId id="272" r:id="rId11"/>
    <p:sldId id="273" r:id="rId12"/>
    <p:sldId id="274" r:id="rId13"/>
    <p:sldId id="279" r:id="rId14"/>
    <p:sldId id="275" r:id="rId15"/>
    <p:sldId id="276" r:id="rId16"/>
    <p:sldId id="277" r:id="rId17"/>
  </p:sldIdLst>
  <p:sldSz cx="12188825" cy="6858000"/>
  <p:notesSz cx="6858000" cy="9144000"/>
  <p:defaultTextStyle>
    <a:defPPr rtl="0">
      <a:defRPr lang="fr-FR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1023"/>
    <a:srgbClr val="040710"/>
    <a:srgbClr val="0FE3F9"/>
    <a:srgbClr val="183182"/>
    <a:srgbClr val="CCFFFF"/>
    <a:srgbClr val="007979"/>
    <a:srgbClr val="394404"/>
    <a:srgbClr val="5F6F0F"/>
    <a:srgbClr val="718412"/>
    <a:srgbClr val="6574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6437" autoAdjust="0"/>
  </p:normalViewPr>
  <p:slideViewPr>
    <p:cSldViewPr>
      <p:cViewPr varScale="1">
        <p:scale>
          <a:sx n="85" d="100"/>
          <a:sy n="85" d="100"/>
        </p:scale>
        <p:origin x="72" y="8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7" d="100"/>
          <a:sy n="57" d="100"/>
        </p:scale>
        <p:origin x="2808" y="4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D8AF6929-4F16-43A6-8368-BF93843271D3}" type="datetime1">
              <a:rPr lang="fr-FR" smtClean="0"/>
              <a:t>07/12/2025</a:t>
            </a:fld>
            <a:endParaRPr lang="fr-FR" dirty="0"/>
          </a:p>
        </p:txBody>
      </p:sp>
      <p:sp>
        <p:nvSpPr>
          <p:cNvPr id="4" name="Espace réservé du pied de page 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79429053-DC2A-4342-ADD4-2FD729D91E2C}" type="slidenum">
              <a:rPr lang="fr-FR" smtClean="0"/>
              <a:pPr algn="r"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4D9CF8A1-AC6C-4B34-A6AF-5306B09514F1}" type="datetime1">
              <a:rPr lang="fr-FR" smtClean="0"/>
              <a:pPr/>
              <a:t>07/12/2025</a:t>
            </a:fld>
            <a:endParaRPr lang="fr-FR" dirty="0"/>
          </a:p>
        </p:txBody>
      </p:sp>
      <p:sp>
        <p:nvSpPr>
          <p:cNvPr id="4" name="Espace réservé d’image de diapositive 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dirty="0"/>
          </a:p>
        </p:txBody>
      </p:sp>
      <p:sp>
        <p:nvSpPr>
          <p:cNvPr id="5" name="Espace réservé des notes 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dirty="0" smtClean="0"/>
              <a:t>Modifiez les styles du texte du masque</a:t>
            </a:r>
          </a:p>
          <a:p>
            <a:pPr lvl="1" rtl="0"/>
            <a:r>
              <a:rPr lang="fr-FR" dirty="0" smtClean="0"/>
              <a:t>Deuxième niveau</a:t>
            </a:r>
          </a:p>
          <a:p>
            <a:pPr lvl="2" rtl="0"/>
            <a:r>
              <a:rPr lang="fr-FR" dirty="0" smtClean="0"/>
              <a:t>Troisième niveau</a:t>
            </a:r>
          </a:p>
          <a:p>
            <a:pPr lvl="3" rtl="0"/>
            <a:r>
              <a:rPr lang="fr-FR" dirty="0" smtClean="0"/>
              <a:t>Quatrième niveau</a:t>
            </a:r>
          </a:p>
          <a:p>
            <a:pPr lvl="4" rtl="0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/>
            <a:fld id="{3EBA5BD7-F043-4D1B-AA17-CD412FC534DE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62862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27575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66756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necteur droit 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necteur droit 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necteur droit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ignes inférieur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e libre 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fr-FR" dirty="0"/>
            </a:p>
          </p:txBody>
        </p:sp>
        <p:sp>
          <p:nvSpPr>
            <p:cNvPr id="10" name="Forme lib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fr-FR" dirty="0"/>
            </a:p>
          </p:txBody>
        </p:sp>
        <p:sp>
          <p:nvSpPr>
            <p:cNvPr id="11" name="Forme libre 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fr-FR" dirty="0"/>
            </a:p>
          </p:txBody>
        </p:sp>
      </p:grpSp>
      <p:sp>
        <p:nvSpPr>
          <p:cNvPr id="2" name="Titre 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fr-FR" smtClean="0"/>
              <a:t>Modifiez le style des sous-titres du masque</a:t>
            </a:r>
            <a:endParaRPr lang="fr-FR" dirty="0"/>
          </a:p>
        </p:txBody>
      </p:sp>
      <p:sp>
        <p:nvSpPr>
          <p:cNvPr id="22" name="Espace réservé de la date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3E36D263-5C89-4D5D-8B05-0120FB33B4BA}" type="datetime1">
              <a:rPr lang="fr-FR" smtClean="0"/>
              <a:pPr/>
              <a:t>07/12/2025</a:t>
            </a:fld>
            <a:endParaRPr lang="fr-FR" dirty="0"/>
          </a:p>
        </p:txBody>
      </p:sp>
      <p:sp>
        <p:nvSpPr>
          <p:cNvPr id="23" name="Espace réservé du pied de page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24" name="Espace réservé du numéro de diapositive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u contenu 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fr-FR" smtClean="0"/>
              <a:t>Modifiez les styles du texte du masque</a:t>
            </a:r>
          </a:p>
          <a:p>
            <a:pPr lvl="1" rtl="0"/>
            <a:r>
              <a:rPr lang="fr-FR" smtClean="0"/>
              <a:t>Deuxième niveau</a:t>
            </a:r>
          </a:p>
          <a:p>
            <a:pPr lvl="2" rtl="0"/>
            <a:r>
              <a:rPr lang="fr-FR" smtClean="0"/>
              <a:t>Troisième niveau</a:t>
            </a:r>
          </a:p>
          <a:p>
            <a:pPr lvl="3" rtl="0"/>
            <a:r>
              <a:rPr lang="fr-FR" smtClean="0"/>
              <a:t>Quatrième niveau</a:t>
            </a:r>
          </a:p>
          <a:p>
            <a:pPr lvl="4" rtl="0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2899D0D-1C7F-4044-B286-354B51780DED}" type="datetime1">
              <a:rPr lang="fr-FR" smtClean="0"/>
              <a:pPr/>
              <a:t>07/12/2025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necteur droit 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necteur droit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necteur droit 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re 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EFD5C92-4BB1-4FBC-932D-AE246A545D97}" type="datetime1">
              <a:rPr lang="fr-FR" smtClean="0"/>
              <a:pPr/>
              <a:t>07/12/2025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fr-FR" smtClean="0"/>
              <a:t>Modifiez les styles du texte du masque</a:t>
            </a:r>
          </a:p>
          <a:p>
            <a:pPr lvl="1" rtl="0"/>
            <a:r>
              <a:rPr lang="fr-FR" smtClean="0"/>
              <a:t>Deuxième niveau</a:t>
            </a:r>
          </a:p>
          <a:p>
            <a:pPr lvl="2" rtl="0"/>
            <a:r>
              <a:rPr lang="fr-FR" smtClean="0"/>
              <a:t>Troisième niveau</a:t>
            </a:r>
          </a:p>
          <a:p>
            <a:pPr lvl="3" rtl="0"/>
            <a:r>
              <a:rPr lang="fr-FR" smtClean="0"/>
              <a:t>Quatrième niveau</a:t>
            </a:r>
          </a:p>
          <a:p>
            <a:pPr lvl="4" rtl="0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4" name="Espace réservé du contenu 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fr-FR" smtClean="0"/>
              <a:t>Modifiez les styles du texte du masque</a:t>
            </a:r>
          </a:p>
          <a:p>
            <a:pPr lvl="1" rtl="0"/>
            <a:r>
              <a:rPr lang="fr-FR" smtClean="0"/>
              <a:t>Deuxième niveau</a:t>
            </a:r>
          </a:p>
          <a:p>
            <a:pPr lvl="2" rtl="0"/>
            <a:r>
              <a:rPr lang="fr-FR" smtClean="0"/>
              <a:t>Troisième niveau</a:t>
            </a:r>
          </a:p>
          <a:p>
            <a:pPr lvl="3" rtl="0"/>
            <a:r>
              <a:rPr lang="fr-FR" smtClean="0"/>
              <a:t>Quatrième niveau</a:t>
            </a:r>
          </a:p>
          <a:p>
            <a:pPr lvl="4" rtl="0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B22FCC3-3DC7-4160-A3CE-82200479EFA7}" type="datetime1">
              <a:rPr lang="fr-FR" smtClean="0"/>
              <a:pPr/>
              <a:t>07/12/2025</a:t>
            </a:fld>
            <a:endParaRPr lang="fr-FR" dirty="0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fr-FR" smtClean="0"/>
              <a:t>Modifiez les styles du texte du masque</a:t>
            </a:r>
          </a:p>
          <a:p>
            <a:pPr lvl="1" rtl="0"/>
            <a:r>
              <a:rPr lang="fr-FR" smtClean="0"/>
              <a:t>Deuxième niveau</a:t>
            </a:r>
          </a:p>
          <a:p>
            <a:pPr lvl="2" rtl="0"/>
            <a:r>
              <a:rPr lang="fr-FR" smtClean="0"/>
              <a:t>Troisième niveau</a:t>
            </a:r>
          </a:p>
          <a:p>
            <a:pPr lvl="3" rtl="0"/>
            <a:r>
              <a:rPr lang="fr-FR" smtClean="0"/>
              <a:t>Quatrième niveau</a:t>
            </a:r>
          </a:p>
          <a:p>
            <a:pPr lvl="4" rtl="0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5" name="Espace réservé du texte 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fr-FR" smtClean="0"/>
              <a:t>Modifiez les styles du texte du masque</a:t>
            </a:r>
          </a:p>
          <a:p>
            <a:pPr lvl="1" rtl="0"/>
            <a:r>
              <a:rPr lang="fr-FR" smtClean="0"/>
              <a:t>Deuxième niveau</a:t>
            </a:r>
          </a:p>
          <a:p>
            <a:pPr lvl="2" rtl="0"/>
            <a:r>
              <a:rPr lang="fr-FR" smtClean="0"/>
              <a:t>Troisième niveau</a:t>
            </a:r>
          </a:p>
          <a:p>
            <a:pPr lvl="3" rtl="0"/>
            <a:r>
              <a:rPr lang="fr-FR" smtClean="0"/>
              <a:t>Quatrième niveau</a:t>
            </a:r>
          </a:p>
          <a:p>
            <a:pPr lvl="4" rtl="0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7" name="Espace réservé de la date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7AB33AB-93D8-496F-A7A3-D08F359C34C7}" type="datetime1">
              <a:rPr lang="fr-FR" smtClean="0"/>
              <a:pPr/>
              <a:t>07/12/2025</a:t>
            </a:fld>
            <a:endParaRPr lang="fr-FR" dirty="0"/>
          </a:p>
        </p:txBody>
      </p:sp>
      <p:sp>
        <p:nvSpPr>
          <p:cNvPr id="8" name="Espace réservé du pied de page 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B80ABE1-D260-4843-B80F-7D5268AEEE07}" type="datetime1">
              <a:rPr lang="fr-FR" smtClean="0"/>
              <a:pPr/>
              <a:t>07/12/2025</a:t>
            </a:fld>
            <a:endParaRPr lang="fr-FR" dirty="0"/>
          </a:p>
        </p:txBody>
      </p:sp>
      <p:sp>
        <p:nvSpPr>
          <p:cNvPr id="4" name="Espace réservé du pied de page 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5" name="Espace réservé du numéro de diapositive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 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8B7253B-1B29-4A13-B3F4-5ABF9F84795C}" type="datetime1">
              <a:rPr lang="fr-FR" smtClean="0"/>
              <a:pPr/>
              <a:t>07/12/2025</a:t>
            </a:fld>
            <a:endParaRPr lang="fr-FR" dirty="0"/>
          </a:p>
        </p:txBody>
      </p:sp>
      <p:sp>
        <p:nvSpPr>
          <p:cNvPr id="3" name="Espace réservé du pied de page 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4" name="Espace réservé du texte 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fr-FR" smtClean="0"/>
              <a:t>Modifiez les styles du texte du masque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fr-FR" smtClean="0"/>
              <a:t>Modifiez les styles du texte du masque</a:t>
            </a:r>
          </a:p>
          <a:p>
            <a:pPr lvl="1" rtl="0"/>
            <a:r>
              <a:rPr lang="fr-FR" smtClean="0"/>
              <a:t>Deuxième niveau</a:t>
            </a:r>
          </a:p>
          <a:p>
            <a:pPr lvl="2" rtl="0"/>
            <a:r>
              <a:rPr lang="fr-FR" smtClean="0"/>
              <a:t>Troisième niveau</a:t>
            </a:r>
          </a:p>
          <a:p>
            <a:pPr lvl="3" rtl="0"/>
            <a:r>
              <a:rPr lang="fr-FR" smtClean="0"/>
              <a:t>Quatrième niveau</a:t>
            </a:r>
          </a:p>
          <a:p>
            <a:pPr lvl="4" rtl="0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3FF95AA5-BF1E-4EB9-A1D5-0AB2DD60A2D9}" type="datetime1">
              <a:rPr lang="fr-FR" smtClean="0"/>
              <a:pPr/>
              <a:t>07/12/2025</a:t>
            </a:fld>
            <a:endParaRPr lang="fr-FR" dirty="0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4" name="Espace réservé du texte 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fr-FR" smtClean="0"/>
              <a:t>Modifiez les styles du texte du masque</a:t>
            </a:r>
          </a:p>
        </p:txBody>
      </p:sp>
      <p:sp>
        <p:nvSpPr>
          <p:cNvPr id="3" name="Espace réservé d’image 2" descr="Espace réservé vide pour ajouter une image. Cliquez sur l’espace réservé et sélectionnez l’image à ajoute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fr-FR" smtClean="0"/>
              <a:t>Cliquez sur l'icône pour ajouter une image</a:t>
            </a:r>
            <a:endParaRPr lang="fr-FR" dirty="0"/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F7BC923-82FA-41E3-BF4E-E946B22CD3AC}" type="datetime1">
              <a:rPr lang="fr-FR" smtClean="0"/>
              <a:pPr/>
              <a:t>07/12/2025</a:t>
            </a:fld>
            <a:endParaRPr lang="fr-FR" dirty="0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fr-FR" smtClean="0"/>
              <a:t>Modifiez les styles du texte du masque</a:t>
            </a:r>
          </a:p>
          <a:p>
            <a:pPr lvl="1" rtl="0"/>
            <a:r>
              <a:rPr lang="fr-FR" smtClean="0"/>
              <a:t>Deuxième niveau</a:t>
            </a:r>
          </a:p>
          <a:p>
            <a:pPr lvl="2" rtl="0"/>
            <a:r>
              <a:rPr lang="fr-FR" smtClean="0"/>
              <a:t>Troisième niveau</a:t>
            </a:r>
          </a:p>
          <a:p>
            <a:pPr lvl="3" rtl="0"/>
            <a:r>
              <a:rPr lang="fr-FR" smtClean="0"/>
              <a:t>Quatrième niveau</a:t>
            </a:r>
          </a:p>
          <a:p>
            <a:pPr lvl="4" rtl="0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A1D2FCC-4233-4F14-8EDB-8DB44C2A50E0}" type="datetime1">
              <a:rPr lang="fr-FR" smtClean="0"/>
              <a:pPr/>
              <a:t>07/12/2025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fr-FR" smtClean="0"/>
              <a:t>Modifiez les styles du texte du masque</a:t>
            </a:r>
          </a:p>
          <a:p>
            <a:pPr lvl="1" rtl="0"/>
            <a:r>
              <a:rPr lang="fr-FR" smtClean="0"/>
              <a:t>Deuxième niveau</a:t>
            </a:r>
          </a:p>
          <a:p>
            <a:pPr lvl="2" rtl="0"/>
            <a:r>
              <a:rPr lang="fr-FR" smtClean="0"/>
              <a:t>Troisième niveau</a:t>
            </a:r>
          </a:p>
          <a:p>
            <a:pPr lvl="3" rtl="0"/>
            <a:r>
              <a:rPr lang="fr-FR" smtClean="0"/>
              <a:t>Quatrième niveau</a:t>
            </a:r>
          </a:p>
          <a:p>
            <a:pPr lvl="4" rtl="0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63F31CA-359D-41CC-AD54-062A6FB97288}" type="datetime1">
              <a:rPr lang="fr-FR" smtClean="0"/>
              <a:pPr/>
              <a:t>07/12/2025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ignes de gauche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e libre 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  <p:sp>
          <p:nvSpPr>
            <p:cNvPr id="11" name="Forme libre 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  <p:sp>
          <p:nvSpPr>
            <p:cNvPr id="14" name="Forme libre 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</p:grpSp>
      <p:sp>
        <p:nvSpPr>
          <p:cNvPr id="2" name="Espace réservé du titre 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3" name="Espace réservé du texte 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fr-FR" dirty="0" smtClean="0"/>
              <a:t>Modifiez les styles du texte du masque</a:t>
            </a:r>
          </a:p>
          <a:p>
            <a:pPr lvl="1" rtl="0"/>
            <a:r>
              <a:rPr lang="fr-FR" dirty="0" smtClean="0"/>
              <a:t>Deuxième niveau</a:t>
            </a:r>
          </a:p>
          <a:p>
            <a:pPr lvl="2" rtl="0"/>
            <a:r>
              <a:rPr lang="fr-FR" dirty="0" smtClean="0"/>
              <a:t>Troisième niveau</a:t>
            </a:r>
          </a:p>
          <a:p>
            <a:pPr lvl="3" rtl="0"/>
            <a:r>
              <a:rPr lang="fr-FR" dirty="0" smtClean="0"/>
              <a:t>Quatrième niveau</a:t>
            </a:r>
          </a:p>
          <a:p>
            <a:pPr lvl="4" rtl="0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A97F8E-A89E-4ECD-B8CE-87968877804C}" type="datetime1">
              <a:rPr lang="fr-FR" smtClean="0"/>
              <a:pPr/>
              <a:t>07/12/2025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97868" y="2204864"/>
            <a:ext cx="10373892" cy="792088"/>
          </a:xfrm>
          <a:ln>
            <a:solidFill>
              <a:srgbClr val="007979"/>
            </a:solidFill>
          </a:ln>
          <a:effectLst>
            <a:reflection blurRad="63500" stA="74000" endPos="63000" dir="5400000" sy="-100000" algn="bl" rotWithShape="0"/>
          </a:effectLst>
        </p:spPr>
        <p:txBody>
          <a:bodyPr rtlCol="0">
            <a:normAutofit fontScale="90000"/>
          </a:bodyPr>
          <a:lstStyle/>
          <a:p>
            <a:pPr algn="ctr" rtl="0"/>
            <a:r>
              <a:rPr lang="fr-FR" spc="300" dirty="0" smtClean="0">
                <a:solidFill>
                  <a:srgbClr val="CCFFFF"/>
                </a:solidFill>
                <a:latin typeface="Agency FB" panose="020B0503020202020204" pitchFamily="34" charset="0"/>
              </a:rPr>
              <a:t>Foundation</a:t>
            </a:r>
            <a:r>
              <a:rPr lang="fr-FR" dirty="0" smtClean="0">
                <a:solidFill>
                  <a:srgbClr val="CCFFFF"/>
                </a:solidFill>
                <a:latin typeface="Agency FB" panose="020B0503020202020204" pitchFamily="34" charset="0"/>
              </a:rPr>
              <a:t> - Framework front-end</a:t>
            </a:r>
            <a:endParaRPr lang="fr-FR" dirty="0">
              <a:solidFill>
                <a:srgbClr val="CCFFFF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re 12"/>
          <p:cNvSpPr>
            <a:spLocks noGrp="1"/>
          </p:cNvSpPr>
          <p:nvPr>
            <p:ph type="title"/>
          </p:nvPr>
        </p:nvSpPr>
        <p:spPr>
          <a:xfrm>
            <a:off x="1218883" y="404664"/>
            <a:ext cx="3291353" cy="706091"/>
          </a:xfrm>
        </p:spPr>
        <p:txBody>
          <a:bodyPr rtlCol="0"/>
          <a:lstStyle/>
          <a:p>
            <a:pPr rtl="0"/>
            <a:r>
              <a:rPr lang="fr-FR" u="sng" dirty="0" smtClean="0">
                <a:solidFill>
                  <a:srgbClr val="CCFFFF"/>
                </a:solidFill>
                <a:latin typeface="Bahnschrift Condensed" panose="020B0502040204020203" pitchFamily="34" charset="0"/>
              </a:rPr>
              <a:t>INTRODUCTION</a:t>
            </a:r>
            <a:endParaRPr lang="fr-FR" u="sng" dirty="0">
              <a:solidFill>
                <a:srgbClr val="CCFFFF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1218883" y="1700808"/>
            <a:ext cx="1042014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fr-FR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Light" panose="020B0502040204020203" pitchFamily="34" charset="0"/>
              </a:rPr>
              <a:t> </a:t>
            </a:r>
            <a:r>
              <a:rPr lang="fr-FR" dirty="0" smtClean="0">
                <a:latin typeface="Bahnschrift Light" panose="020B0502040204020203" pitchFamily="34" charset="0"/>
              </a:rPr>
              <a:t>Framework front-end</a:t>
            </a:r>
          </a:p>
          <a:p>
            <a:endParaRPr lang="fr-FR" dirty="0">
              <a:latin typeface="Bahnschrift Light" panose="020B0502040204020203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fr-FR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Light" panose="020B0502040204020203" pitchFamily="34" charset="0"/>
              </a:rPr>
              <a:t> </a:t>
            </a:r>
            <a:r>
              <a:rPr lang="fr-FR" dirty="0" smtClean="0">
                <a:latin typeface="Bahnschrift Light" panose="020B0502040204020203" pitchFamily="34" charset="0"/>
              </a:rPr>
              <a:t>Création des sites web modernes, rapides et adaptés à tous les écrans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fr-FR" dirty="0" smtClean="0">
              <a:latin typeface="Bahnschrift Light" panose="020B0502040204020203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fr-FR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Light" panose="020B0502040204020203" pitchFamily="34" charset="0"/>
              </a:rPr>
              <a:t> </a:t>
            </a:r>
            <a:r>
              <a:rPr lang="fr-FR" dirty="0" smtClean="0">
                <a:latin typeface="Bahnschrift Light" panose="020B0502040204020203" pitchFamily="34" charset="0"/>
              </a:rPr>
              <a:t>Fournisseur d’outil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fr-FR" dirty="0" smtClean="0">
              <a:latin typeface="Bahnschrift Light" panose="020B0502040204020203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fr-FR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Light" panose="020B0502040204020203" pitchFamily="34" charset="0"/>
              </a:rPr>
              <a:t> </a:t>
            </a:r>
            <a:r>
              <a:rPr lang="fr-FR" dirty="0" smtClean="0">
                <a:latin typeface="Bahnschrift Light" panose="020B0502040204020203" pitchFamily="34" charset="0"/>
              </a:rPr>
              <a:t>flexibilité </a:t>
            </a:r>
            <a:r>
              <a:rPr lang="fr-FR" dirty="0">
                <a:latin typeface="Bahnschrift Light" panose="020B0502040204020203" pitchFamily="34" charset="0"/>
              </a:rPr>
              <a:t>et sa modularité</a:t>
            </a:r>
            <a:endParaRPr lang="fr-FR" dirty="0" smtClean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8883" y="548680"/>
            <a:ext cx="5379585" cy="661888"/>
          </a:xfrm>
        </p:spPr>
        <p:txBody>
          <a:bodyPr/>
          <a:lstStyle/>
          <a:p>
            <a:r>
              <a:rPr lang="fr-FR" u="sng" dirty="0" smtClean="0">
                <a:solidFill>
                  <a:srgbClr val="CCFFFF"/>
                </a:solidFill>
                <a:latin typeface="Bahnschrift Condensed" panose="020B0502040204020203" pitchFamily="34" charset="0"/>
              </a:rPr>
              <a:t>POURQUOI UTILISER FOUNDATION 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18883" y="1700808"/>
            <a:ext cx="10918949" cy="4392488"/>
          </a:xfrm>
        </p:spPr>
        <p:txBody>
          <a:bodyPr>
            <a:normAutofit/>
          </a:bodyPr>
          <a:lstStyle/>
          <a:p>
            <a:pPr>
              <a:buClr>
                <a:schemeClr val="accent1">
                  <a:lumMod val="60000"/>
                  <a:lumOff val="40000"/>
                </a:schemeClr>
              </a:buClr>
              <a:buFont typeface="Courier New" panose="02070309020205020404" pitchFamily="49" charset="0"/>
              <a:buChar char="o"/>
            </a:pPr>
            <a:r>
              <a:rPr lang="fr-FR" sz="2400" dirty="0" smtClean="0"/>
              <a:t>Très responsive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  <a:buFont typeface="Courier New" panose="02070309020205020404" pitchFamily="49" charset="0"/>
              <a:buChar char="o"/>
            </a:pPr>
            <a:r>
              <a:rPr lang="fr-FR" sz="2400" dirty="0" smtClean="0"/>
              <a:t>Grille flexible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  <a:buFont typeface="Courier New" panose="02070309020205020404" pitchFamily="49" charset="0"/>
              <a:buChar char="o"/>
            </a:pPr>
            <a:r>
              <a:rPr lang="fr-FR" sz="2400" dirty="0" smtClean="0"/>
              <a:t>Personnalisable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  <a:buFont typeface="Courier New" panose="02070309020205020404" pitchFamily="49" charset="0"/>
              <a:buChar char="o"/>
            </a:pPr>
            <a:r>
              <a:rPr lang="fr-FR" sz="2400" dirty="0" smtClean="0"/>
              <a:t>Design professionnel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  <a:buFont typeface="Courier New" panose="02070309020205020404" pitchFamily="49" charset="0"/>
              <a:buChar char="o"/>
            </a:pPr>
            <a:r>
              <a:rPr lang="fr-FR" sz="2400" dirty="0" smtClean="0"/>
              <a:t>Composants légers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  <a:buFont typeface="Courier New" panose="02070309020205020404" pitchFamily="49" charset="0"/>
              <a:buChar char="o"/>
            </a:pPr>
            <a:r>
              <a:rPr lang="fr-FR" sz="2400" dirty="0" smtClean="0"/>
              <a:t>Animations (Motion UI)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058410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8883" y="404664"/>
            <a:ext cx="4299465" cy="634083"/>
          </a:xfrm>
        </p:spPr>
        <p:txBody>
          <a:bodyPr>
            <a:normAutofit/>
          </a:bodyPr>
          <a:lstStyle/>
          <a:p>
            <a:r>
              <a:rPr lang="fr-FR" u="sng" dirty="0" smtClean="0">
                <a:solidFill>
                  <a:srgbClr val="CCFFFF"/>
                </a:solidFill>
                <a:latin typeface="Bahnschrift Condensed" panose="020B0502040204020203" pitchFamily="34" charset="0"/>
              </a:rPr>
              <a:t>Installation du Framework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1218883" y="992899"/>
            <a:ext cx="3292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u="sng" dirty="0" smtClean="0">
                <a:ln w="0"/>
                <a:latin typeface="+mj-lt"/>
              </a:rPr>
              <a:t>3</a:t>
            </a:r>
            <a:r>
              <a:rPr lang="fr-FR" u="sng" dirty="0" smtClean="0">
                <a:ln w="0"/>
                <a:latin typeface="+mj-lt"/>
              </a:rPr>
              <a:t> méthodes principales :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1218883" y="1594015"/>
            <a:ext cx="1138453" cy="523220"/>
          </a:xfrm>
          <a:prstGeom prst="rect">
            <a:avLst/>
          </a:prstGeom>
          <a:solidFill>
            <a:srgbClr val="040710"/>
          </a:solidFill>
        </p:spPr>
        <p:txBody>
          <a:bodyPr wrap="none" rtlCol="0">
            <a:spAutoFit/>
          </a:bodyPr>
          <a:lstStyle/>
          <a:p>
            <a:r>
              <a:rPr lang="fr-FR" sz="2800" b="1" u="sng" dirty="0" smtClean="0">
                <a:solidFill>
                  <a:srgbClr val="0FE3F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Via CDN</a:t>
            </a:r>
            <a:endParaRPr lang="fr-FR" sz="2800" b="1" u="sng" dirty="0">
              <a:solidFill>
                <a:srgbClr val="0FE3F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218883" y="2324443"/>
            <a:ext cx="6315689" cy="70788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numCol="1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 smtClean="0"/>
              <a:t>Permet d’utiliser fondation rapidement sans installation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 smtClean="0"/>
              <a:t>Idéal </a:t>
            </a:r>
            <a:r>
              <a:rPr lang="fr-FR" sz="2000" dirty="0" smtClean="0"/>
              <a:t>pour les tests rapides ou petits </a:t>
            </a:r>
            <a:r>
              <a:rPr lang="fr-FR" sz="2000" dirty="0" smtClean="0"/>
              <a:t>projets</a:t>
            </a:r>
            <a:endParaRPr lang="fr-FR" sz="20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1218883" y="3211112"/>
            <a:ext cx="28023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u="sng" dirty="0" smtClean="0">
                <a:solidFill>
                  <a:srgbClr val="0FE3F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Téléchargement local</a:t>
            </a:r>
            <a:endParaRPr lang="fr-FR" sz="2800" b="1" u="sng" dirty="0">
              <a:solidFill>
                <a:srgbClr val="0FE3F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218882" y="3890125"/>
            <a:ext cx="6315689" cy="70788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000" dirty="0" smtClean="0"/>
              <a:t>Téléchargement du zip depuis Foundation.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000" dirty="0" smtClean="0"/>
              <a:t>Permet d’utiliser les fichiers CSS/JS en </a:t>
            </a:r>
            <a:r>
              <a:rPr lang="fr-FR" sz="2000" dirty="0" smtClean="0"/>
              <a:t>local</a:t>
            </a:r>
            <a:endParaRPr lang="fr-FR" sz="2000" dirty="0" smtClean="0"/>
          </a:p>
        </p:txBody>
      </p:sp>
      <p:sp>
        <p:nvSpPr>
          <p:cNvPr id="11" name="Rectangle 10"/>
          <p:cNvSpPr/>
          <p:nvPr/>
        </p:nvSpPr>
        <p:spPr>
          <a:xfrm>
            <a:off x="1218883" y="4905788"/>
            <a:ext cx="24529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u="sng" dirty="0" smtClean="0">
                <a:solidFill>
                  <a:srgbClr val="0FE3F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ZURB Template ou CLI</a:t>
            </a:r>
            <a:endParaRPr lang="fr-FR" b="1" u="sng" dirty="0">
              <a:solidFill>
                <a:srgbClr val="0FE3F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18883" y="5584801"/>
            <a:ext cx="9219063" cy="830997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dirty="0" smtClean="0"/>
              <a:t>Installation </a:t>
            </a:r>
            <a:r>
              <a:rPr lang="fr-FR" sz="2000" dirty="0" smtClean="0"/>
              <a:t>via</a:t>
            </a:r>
            <a:r>
              <a:rPr lang="fr-FR" dirty="0" smtClean="0"/>
              <a:t> </a:t>
            </a:r>
            <a:r>
              <a:rPr lang="fr-FR" i="1" u="sng" dirty="0" smtClean="0"/>
              <a:t>Node.js</a:t>
            </a:r>
            <a:r>
              <a:rPr lang="fr-FR" dirty="0" smtClean="0"/>
              <a:t> : </a:t>
            </a:r>
            <a:r>
              <a:rPr lang="fr-FR" sz="1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npm</a:t>
            </a:r>
            <a:r>
              <a:rPr lang="fr-FR" sz="1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 </a:t>
            </a:r>
            <a:r>
              <a:rPr lang="fr-FR" sz="1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install --global foundation-cli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000" dirty="0" smtClean="0"/>
              <a:t>Fournit un projet complet avec Sass, compilation automatique, etc</a:t>
            </a:r>
            <a:r>
              <a:rPr lang="fr-FR" dirty="0" smtClean="0"/>
              <a:t>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4215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25860" y="1700808"/>
            <a:ext cx="10360501" cy="2920615"/>
          </a:xfrm>
        </p:spPr>
        <p:txBody>
          <a:bodyPr>
            <a:noAutofit/>
          </a:bodyPr>
          <a:lstStyle/>
          <a:p>
            <a:pPr>
              <a:buClr>
                <a:srgbClr val="0FE3F9"/>
              </a:buClr>
              <a:buFont typeface="Wingdings" panose="05000000000000000000" pitchFamily="2" charset="2"/>
              <a:buChar char="v"/>
            </a:pPr>
            <a:r>
              <a:rPr lang="fr-FR" sz="2000" dirty="0"/>
              <a:t>U</a:t>
            </a:r>
            <a:r>
              <a:rPr lang="fr-FR" sz="2000" dirty="0" smtClean="0"/>
              <a:t>tilise </a:t>
            </a:r>
            <a:r>
              <a:rPr lang="fr-FR" sz="2000" dirty="0" smtClean="0"/>
              <a:t>une grille flexible basée sur 12 colonnes.</a:t>
            </a:r>
          </a:p>
          <a:p>
            <a:pPr>
              <a:buClr>
                <a:srgbClr val="0FE3F9"/>
              </a:buClr>
              <a:buFont typeface="Wingdings" panose="05000000000000000000" pitchFamily="2" charset="2"/>
              <a:buChar char="v"/>
            </a:pPr>
            <a:r>
              <a:rPr lang="fr-FR" sz="2000" dirty="0" smtClean="0"/>
              <a:t>Résolution possibles : small, medium, large, xlarge, xxlarge</a:t>
            </a:r>
            <a:r>
              <a:rPr lang="fr-FR" sz="2000" dirty="0" smtClean="0"/>
              <a:t>.</a:t>
            </a:r>
          </a:p>
          <a:p>
            <a:pPr marL="0" indent="0">
              <a:buClr>
                <a:srgbClr val="0FE3F9"/>
              </a:buClr>
              <a:buNone/>
            </a:pPr>
            <a:endParaRPr lang="fr-FR" sz="2000" dirty="0" smtClean="0"/>
          </a:p>
          <a:p>
            <a:pPr marL="0" indent="0">
              <a:buNone/>
            </a:pPr>
            <a:r>
              <a:rPr lang="fr-FR" sz="2000" i="1" u="sng" dirty="0" smtClean="0"/>
              <a:t>Exemples : </a:t>
            </a:r>
          </a:p>
          <a:p>
            <a:pPr marL="0" indent="0">
              <a:buNone/>
            </a:pPr>
            <a:r>
              <a:rPr lang="fr-FR" sz="2000" dirty="0" smtClean="0"/>
              <a:t>small-12 : prend toute la largeur sur petit écran</a:t>
            </a:r>
          </a:p>
          <a:p>
            <a:pPr marL="0" indent="0">
              <a:buNone/>
            </a:pPr>
            <a:r>
              <a:rPr lang="fr-FR" sz="2000" dirty="0" smtClean="0"/>
              <a:t>Medium-6 : 50% sur écran moyen</a:t>
            </a:r>
          </a:p>
          <a:p>
            <a:pPr marL="0" indent="0">
              <a:buNone/>
            </a:pPr>
            <a:r>
              <a:rPr lang="fr-FR" sz="2000" dirty="0" smtClean="0"/>
              <a:t>Large-4 : 33% sur large </a:t>
            </a:r>
            <a:r>
              <a:rPr lang="fr-FR" sz="2000" dirty="0" smtClean="0"/>
              <a:t>écran</a:t>
            </a:r>
            <a:endParaRPr lang="fr-FR" sz="20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1216470" y="404664"/>
            <a:ext cx="43748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u="sng" dirty="0" smtClean="0">
                <a:solidFill>
                  <a:srgbClr val="CCFFFF"/>
                </a:solidFill>
                <a:latin typeface="Bahnschrift Condensed" panose="020B0502040204020203" pitchFamily="34" charset="0"/>
              </a:rPr>
              <a:t>La grille responsive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2482550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25860" y="692696"/>
            <a:ext cx="10360501" cy="4462272"/>
          </a:xfrm>
        </p:spPr>
        <p:txBody>
          <a:bodyPr/>
          <a:lstStyle/>
          <a:p>
            <a:pPr marL="0" indent="0">
              <a:buNone/>
            </a:pPr>
            <a:r>
              <a:rPr lang="fr-FR" sz="3200" b="1" i="1" u="sng" dirty="0"/>
              <a:t>Avantages </a:t>
            </a:r>
            <a:r>
              <a:rPr lang="fr-FR" sz="3200" b="1" i="1" u="sng" dirty="0" smtClean="0"/>
              <a:t>:</a:t>
            </a:r>
          </a:p>
          <a:p>
            <a:pPr marL="0" indent="0">
              <a:buNone/>
            </a:pPr>
            <a:endParaRPr lang="fr-FR" i="1" u="sng" dirty="0"/>
          </a:p>
          <a:p>
            <a:pPr marL="0" indent="0">
              <a:buNone/>
            </a:pPr>
            <a:r>
              <a:rPr lang="fr-FR" dirty="0"/>
              <a:t>Possibilité de gérer 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Espacements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Alignement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Offsets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Ordres de colonnes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810499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18883" y="1124744"/>
            <a:ext cx="10360501" cy="51125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400" u="sng" dirty="0" smtClean="0"/>
              <a:t>Foundation inclut des styles prêts pour 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 smtClean="0"/>
              <a:t>Titres (h1 à h6)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 smtClean="0"/>
              <a:t>Paragraphes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 smtClean="0"/>
              <a:t>Listes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 smtClean="0"/>
              <a:t>Citations</a:t>
            </a:r>
            <a:endParaRPr lang="fr-FR" sz="2400" dirty="0" smtClean="0"/>
          </a:p>
          <a:p>
            <a:pPr marL="0" indent="0">
              <a:buNone/>
            </a:pPr>
            <a:r>
              <a:rPr lang="fr-FR" sz="2400" u="sng" dirty="0" smtClean="0"/>
              <a:t>Propose des classes utilitaires 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 smtClean="0"/>
              <a:t>.lead pour un paragraphe plus important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 smtClean="0"/>
              <a:t>.subheader pour un sous-titre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 smtClean="0"/>
              <a:t>.text-right, .text-center, text-left</a:t>
            </a:r>
            <a:endParaRPr lang="fr-FR" sz="2400" dirty="0"/>
          </a:p>
        </p:txBody>
      </p:sp>
      <p:sp>
        <p:nvSpPr>
          <p:cNvPr id="4" name="Rectangle 3"/>
          <p:cNvSpPr/>
          <p:nvPr/>
        </p:nvSpPr>
        <p:spPr>
          <a:xfrm>
            <a:off x="1218883" y="116632"/>
            <a:ext cx="249926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400" u="sng" dirty="0" smtClean="0">
                <a:solidFill>
                  <a:srgbClr val="CCFFFF"/>
                </a:solidFill>
                <a:latin typeface="Bahnschrift Condensed" panose="020B0502040204020203" pitchFamily="34" charset="0"/>
              </a:rPr>
              <a:t>Typographie</a:t>
            </a:r>
            <a:endParaRPr lang="fr-FR" sz="4000" dirty="0"/>
          </a:p>
        </p:txBody>
      </p:sp>
    </p:spTree>
    <p:extLst>
      <p:ext uri="{BB962C8B-B14F-4D97-AF65-F5344CB8AC3E}">
        <p14:creationId xmlns:p14="http://schemas.microsoft.com/office/powerpoint/2010/main" val="224062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18883" y="1124744"/>
            <a:ext cx="8691953" cy="5256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smtClean="0">
                <a:latin typeface="Agency FB" panose="020B0503020202020204" pitchFamily="34" charset="0"/>
              </a:rPr>
              <a:t>Fondation propose des styles de boutons très modulables</a:t>
            </a:r>
            <a:r>
              <a:rPr lang="fr-FR" dirty="0" smtClean="0"/>
              <a:t>.</a:t>
            </a:r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r>
              <a:rPr lang="fr-FR" u="sng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Bouton basique</a:t>
            </a:r>
          </a:p>
          <a:p>
            <a:pPr marL="0" indent="0">
              <a:buNone/>
            </a:pPr>
            <a:r>
              <a:rPr lang="fr-FR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Classe</a:t>
            </a:r>
            <a:r>
              <a:rPr lang="fr-F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</a:t>
            </a:r>
            <a:r>
              <a:rPr lang="fr-FR" sz="2000" dirty="0"/>
              <a:t> </a:t>
            </a:r>
            <a:r>
              <a:rPr lang="fr-FR" sz="2000" i="1" dirty="0"/>
              <a:t>.bouton</a:t>
            </a:r>
          </a:p>
          <a:p>
            <a:pPr marL="0" indent="0">
              <a:buNone/>
            </a:pPr>
            <a:r>
              <a:rPr lang="fr-FR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Peut être combiné avec d’autres classes</a:t>
            </a:r>
            <a:r>
              <a:rPr lang="fr-FR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fr-FR" sz="2000" u="sng" dirty="0" smtClean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fr-FR" u="sng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Bouton « Expanded »(ou Extended)</a:t>
            </a:r>
          </a:p>
          <a:p>
            <a:pPr marL="0" indent="0">
              <a:buNone/>
            </a:pPr>
            <a:r>
              <a:rPr lang="fr-FR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Classe</a:t>
            </a:r>
            <a:r>
              <a:rPr lang="fr-FR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</a:t>
            </a:r>
            <a:r>
              <a:rPr lang="fr-FR" sz="2000" dirty="0" smtClean="0"/>
              <a:t> </a:t>
            </a:r>
            <a:r>
              <a:rPr lang="fr-FR" sz="2000" i="1" dirty="0" smtClean="0"/>
              <a:t>.expanded</a:t>
            </a:r>
          </a:p>
          <a:p>
            <a:pPr marL="0" indent="0">
              <a:buNone/>
            </a:pPr>
            <a:r>
              <a:rPr lang="fr-FR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bouton prend toute la largeur du conteneur.</a:t>
            </a:r>
          </a:p>
          <a:p>
            <a:pPr marL="0" indent="0">
              <a:buNone/>
            </a:pPr>
            <a:r>
              <a:rPr lang="fr-FR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Idéal pour mobile ou call-to-action</a:t>
            </a:r>
            <a:endParaRPr lang="fr-FR" sz="2000" i="1" dirty="0" smtClean="0"/>
          </a:p>
          <a:p>
            <a:pPr marL="0" indent="0">
              <a:buNone/>
            </a:pPr>
            <a:endParaRPr lang="fr-FR" sz="2000" i="1" dirty="0"/>
          </a:p>
          <a:p>
            <a:pPr marL="0" indent="0">
              <a:buNone/>
            </a:pPr>
            <a:endParaRPr lang="fr-FR" u="sng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fr-FR" u="sng" dirty="0" smtClean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fr-FR" sz="2000" i="1" dirty="0" smtClean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1218883" y="260648"/>
            <a:ext cx="240161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4400" u="sng" dirty="0">
                <a:solidFill>
                  <a:srgbClr val="CCFFFF"/>
                </a:solidFill>
                <a:latin typeface="Bahnschrift Condensed" panose="020B0502040204020203" pitchFamily="34" charset="0"/>
              </a:rPr>
              <a:t>Les boutons</a:t>
            </a:r>
            <a:endParaRPr lang="fr-FR" sz="4000" dirty="0"/>
          </a:p>
        </p:txBody>
      </p:sp>
    </p:spTree>
    <p:extLst>
      <p:ext uri="{BB962C8B-B14F-4D97-AF65-F5344CB8AC3E}">
        <p14:creationId xmlns:p14="http://schemas.microsoft.com/office/powerpoint/2010/main" val="1440042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25860" y="188640"/>
            <a:ext cx="8691953" cy="67687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u="sng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Bouton « Radius »</a:t>
            </a:r>
          </a:p>
          <a:p>
            <a:pPr marL="0" indent="0">
              <a:buNone/>
            </a:pPr>
            <a:r>
              <a:rPr lang="fr-FR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Classe</a:t>
            </a:r>
            <a:r>
              <a:rPr lang="fr-FR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fr-FR" sz="2000" dirty="0"/>
              <a:t> </a:t>
            </a:r>
            <a:r>
              <a:rPr lang="fr-FR" sz="2000" i="1" dirty="0" smtClean="0"/>
              <a:t>.radius</a:t>
            </a:r>
            <a:endParaRPr lang="fr-FR" sz="2000" i="1" dirty="0"/>
          </a:p>
          <a:p>
            <a:pPr marL="0" indent="0">
              <a:buNone/>
            </a:pPr>
            <a:r>
              <a:rPr lang="fr-FR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Bouton avec coins légèrement arrondis </a:t>
            </a:r>
          </a:p>
          <a:p>
            <a:pPr marL="0" indent="0">
              <a:buNone/>
            </a:pPr>
            <a:r>
              <a:rPr lang="fr-FR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Look moderne mais discret</a:t>
            </a:r>
            <a:endParaRPr lang="fr-FR" sz="2000" u="sng" dirty="0" smtClean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fr-FR" u="sng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Bouton « Round »</a:t>
            </a:r>
          </a:p>
          <a:p>
            <a:pPr marL="0" indent="0">
              <a:buNone/>
            </a:pPr>
            <a:r>
              <a:rPr lang="fr-FR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Classe</a:t>
            </a:r>
            <a:r>
              <a:rPr lang="fr-FR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</a:t>
            </a:r>
            <a:r>
              <a:rPr lang="fr-FR" sz="2000" dirty="0" smtClean="0"/>
              <a:t> </a:t>
            </a:r>
            <a:r>
              <a:rPr lang="fr-FR" sz="2000" i="1" dirty="0" smtClean="0"/>
              <a:t>.round</a:t>
            </a:r>
          </a:p>
          <a:p>
            <a:pPr marL="0" indent="0">
              <a:buNone/>
            </a:pPr>
            <a:r>
              <a:rPr lang="fr-FR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Coins très arrondis, presque en forme de pilule </a:t>
            </a:r>
          </a:p>
          <a:p>
            <a:pPr marL="0" indent="0">
              <a:buNone/>
            </a:pPr>
            <a:r>
              <a:rPr lang="fr-FR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Style plus doux et visuel</a:t>
            </a:r>
          </a:p>
          <a:p>
            <a:pPr marL="0" indent="0">
              <a:buNone/>
            </a:pPr>
            <a:r>
              <a:rPr lang="fr-FR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Bouton </a:t>
            </a:r>
            <a:r>
              <a:rPr lang="fr-FR" u="sng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colorés</a:t>
            </a:r>
            <a:endParaRPr lang="fr-FR" u="sng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fr-FR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.primary</a:t>
            </a:r>
          </a:p>
          <a:p>
            <a:pPr marL="0" indent="0">
              <a:buNone/>
            </a:pPr>
            <a:r>
              <a:rPr lang="fr-FR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.secondary</a:t>
            </a:r>
          </a:p>
          <a:p>
            <a:pPr marL="0" indent="0">
              <a:buNone/>
            </a:pPr>
            <a:r>
              <a:rPr lang="fr-FR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.success</a:t>
            </a:r>
          </a:p>
          <a:p>
            <a:pPr marL="0" indent="0">
              <a:buNone/>
            </a:pPr>
            <a:r>
              <a:rPr lang="fr-FR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.warning</a:t>
            </a:r>
          </a:p>
          <a:p>
            <a:pPr marL="0" indent="0">
              <a:buNone/>
            </a:pPr>
            <a:r>
              <a:rPr lang="fr-FR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.alert</a:t>
            </a:r>
          </a:p>
          <a:p>
            <a:pPr marL="0" indent="0">
              <a:buNone/>
            </a:pPr>
            <a:endParaRPr lang="fr-FR" sz="2000" i="1" dirty="0" smtClean="0"/>
          </a:p>
          <a:p>
            <a:pPr marL="0" indent="0">
              <a:buNone/>
            </a:pPr>
            <a:endParaRPr lang="fr-FR" sz="2000" i="1" dirty="0"/>
          </a:p>
          <a:p>
            <a:pPr marL="0" indent="0">
              <a:buNone/>
            </a:pPr>
            <a:endParaRPr lang="fr-FR" u="sng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fr-FR" u="sng" dirty="0" smtClean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fr-FR" sz="2000" i="1" dirty="0" smtClean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19763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re 12"/>
          <p:cNvSpPr>
            <a:spLocks noGrp="1"/>
          </p:cNvSpPr>
          <p:nvPr>
            <p:ph type="title"/>
          </p:nvPr>
        </p:nvSpPr>
        <p:spPr>
          <a:xfrm>
            <a:off x="1218883" y="404664"/>
            <a:ext cx="3291353" cy="706091"/>
          </a:xfrm>
        </p:spPr>
        <p:txBody>
          <a:bodyPr rtlCol="0"/>
          <a:lstStyle/>
          <a:p>
            <a:pPr rtl="0"/>
            <a:r>
              <a:rPr lang="fr-FR" u="sng" dirty="0" smtClean="0">
                <a:solidFill>
                  <a:srgbClr val="CCFFFF"/>
                </a:solidFill>
                <a:latin typeface="Bahnschrift Condensed" panose="020B0502040204020203" pitchFamily="34" charset="0"/>
              </a:rPr>
              <a:t>COMPOSANT UI</a:t>
            </a:r>
            <a:endParaRPr lang="fr-FR" u="sng" dirty="0">
              <a:solidFill>
                <a:srgbClr val="CCFFFF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1125860" y="1196752"/>
            <a:ext cx="10420145" cy="538609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342900" indent="-342900">
              <a:lnSpc>
                <a:spcPct val="200000"/>
              </a:lnSpc>
              <a:buClr>
                <a:srgbClr val="0FE3F9"/>
              </a:buClr>
              <a:buFont typeface="Courier New" panose="02070309020205020404" pitchFamily="49" charset="0"/>
              <a:buChar char="o"/>
            </a:pPr>
            <a:r>
              <a:rPr lang="fr-FR" b="1" dirty="0" smtClean="0">
                <a:solidFill>
                  <a:schemeClr val="tx1">
                    <a:lumMod val="95000"/>
                  </a:schemeClr>
                </a:solidFill>
                <a:latin typeface="Bahnschrift Light" panose="020B0502040204020203" pitchFamily="34" charset="0"/>
              </a:rPr>
              <a:t>Cards</a:t>
            </a:r>
            <a:r>
              <a:rPr lang="fr-FR" dirty="0" smtClean="0">
                <a:solidFill>
                  <a:schemeClr val="tx1">
                    <a:lumMod val="95000"/>
                  </a:schemeClr>
                </a:solidFill>
                <a:latin typeface="Bahnschrift Light" panose="020B0502040204020203" pitchFamily="34" charset="0"/>
              </a:rPr>
              <a:t> : blocs d’information stylés</a:t>
            </a:r>
          </a:p>
          <a:p>
            <a:pPr marL="342900" indent="-342900">
              <a:lnSpc>
                <a:spcPct val="200000"/>
              </a:lnSpc>
              <a:buClr>
                <a:srgbClr val="0FE3F9"/>
              </a:buClr>
              <a:buFont typeface="Courier New" panose="02070309020205020404" pitchFamily="49" charset="0"/>
              <a:buChar char="o"/>
            </a:pPr>
            <a:r>
              <a:rPr lang="fr-FR" b="1" dirty="0" smtClean="0">
                <a:solidFill>
                  <a:schemeClr val="tx1">
                    <a:lumMod val="95000"/>
                  </a:schemeClr>
                </a:solidFill>
                <a:latin typeface="Bahnschrift Light" panose="020B0502040204020203" pitchFamily="34" charset="0"/>
              </a:rPr>
              <a:t>Menu&amp;Top-bar</a:t>
            </a:r>
            <a:r>
              <a:rPr lang="fr-FR" dirty="0" smtClean="0">
                <a:solidFill>
                  <a:schemeClr val="tx1">
                    <a:lumMod val="95000"/>
                  </a:schemeClr>
                </a:solidFill>
                <a:latin typeface="Bahnschrift Light" panose="020B0502040204020203" pitchFamily="34" charset="0"/>
              </a:rPr>
              <a:t> : navigation responsive</a:t>
            </a:r>
          </a:p>
          <a:p>
            <a:pPr marL="342900" indent="-342900">
              <a:lnSpc>
                <a:spcPct val="200000"/>
              </a:lnSpc>
              <a:buClr>
                <a:srgbClr val="0FE3F9"/>
              </a:buClr>
              <a:buFont typeface="Courier New" panose="02070309020205020404" pitchFamily="49" charset="0"/>
              <a:buChar char="o"/>
            </a:pPr>
            <a:r>
              <a:rPr lang="fr-FR" b="1" dirty="0" smtClean="0">
                <a:solidFill>
                  <a:schemeClr val="tx1">
                    <a:lumMod val="95000"/>
                  </a:schemeClr>
                </a:solidFill>
                <a:latin typeface="Bahnschrift Light" panose="020B0502040204020203" pitchFamily="34" charset="0"/>
              </a:rPr>
              <a:t>Accordion</a:t>
            </a:r>
            <a:r>
              <a:rPr lang="fr-FR" dirty="0" smtClean="0">
                <a:solidFill>
                  <a:schemeClr val="tx1">
                    <a:lumMod val="95000"/>
                  </a:schemeClr>
                </a:solidFill>
                <a:latin typeface="Bahnschrift Light" panose="020B0502040204020203" pitchFamily="34" charset="0"/>
              </a:rPr>
              <a:t> : sections déroulantes</a:t>
            </a:r>
          </a:p>
          <a:p>
            <a:pPr marL="342900" indent="-342900">
              <a:lnSpc>
                <a:spcPct val="200000"/>
              </a:lnSpc>
              <a:buClr>
                <a:srgbClr val="0FE3F9"/>
              </a:buClr>
              <a:buFont typeface="Courier New" panose="02070309020205020404" pitchFamily="49" charset="0"/>
              <a:buChar char="o"/>
            </a:pPr>
            <a:r>
              <a:rPr lang="fr-FR" b="1" dirty="0" smtClean="0">
                <a:solidFill>
                  <a:schemeClr val="tx1">
                    <a:lumMod val="95000"/>
                  </a:schemeClr>
                </a:solidFill>
                <a:latin typeface="Bahnschrift Light" panose="020B0502040204020203" pitchFamily="34" charset="0"/>
              </a:rPr>
              <a:t>Tabs</a:t>
            </a:r>
            <a:r>
              <a:rPr lang="fr-FR" dirty="0" smtClean="0">
                <a:solidFill>
                  <a:schemeClr val="tx1">
                    <a:lumMod val="95000"/>
                  </a:schemeClr>
                </a:solidFill>
                <a:latin typeface="Bahnschrift Light" panose="020B0502040204020203" pitchFamily="34" charset="0"/>
              </a:rPr>
              <a:t> : organisation par onglets</a:t>
            </a:r>
          </a:p>
          <a:p>
            <a:pPr marL="342900" indent="-342900">
              <a:lnSpc>
                <a:spcPct val="200000"/>
              </a:lnSpc>
              <a:buClr>
                <a:srgbClr val="0FE3F9"/>
              </a:buClr>
              <a:buFont typeface="Courier New" panose="02070309020205020404" pitchFamily="49" charset="0"/>
              <a:buChar char="o"/>
            </a:pPr>
            <a:r>
              <a:rPr lang="fr-FR" b="1" dirty="0" smtClean="0">
                <a:solidFill>
                  <a:schemeClr val="tx1">
                    <a:lumMod val="95000"/>
                  </a:schemeClr>
                </a:solidFill>
                <a:latin typeface="Bahnschrift Light" panose="020B0502040204020203" pitchFamily="34" charset="0"/>
              </a:rPr>
              <a:t>Callouts</a:t>
            </a:r>
            <a:r>
              <a:rPr lang="fr-FR" dirty="0" smtClean="0">
                <a:solidFill>
                  <a:schemeClr val="tx1">
                    <a:lumMod val="95000"/>
                  </a:schemeClr>
                </a:solidFill>
                <a:latin typeface="Bahnschrift Light" panose="020B0502040204020203" pitchFamily="34" charset="0"/>
              </a:rPr>
              <a:t> : encadrés d’information</a:t>
            </a:r>
          </a:p>
          <a:p>
            <a:pPr marL="342900" indent="-342900">
              <a:lnSpc>
                <a:spcPct val="200000"/>
              </a:lnSpc>
              <a:buClr>
                <a:srgbClr val="0FE3F9"/>
              </a:buClr>
              <a:buFont typeface="Courier New" panose="02070309020205020404" pitchFamily="49" charset="0"/>
              <a:buChar char="o"/>
            </a:pPr>
            <a:r>
              <a:rPr lang="fr-FR" b="1" dirty="0" smtClean="0">
                <a:solidFill>
                  <a:schemeClr val="tx1">
                    <a:lumMod val="95000"/>
                  </a:schemeClr>
                </a:solidFill>
                <a:latin typeface="Bahnschrift Light" panose="020B0502040204020203" pitchFamily="34" charset="0"/>
              </a:rPr>
              <a:t>Dropdown Menu </a:t>
            </a:r>
            <a:r>
              <a:rPr lang="fr-FR" dirty="0" smtClean="0">
                <a:solidFill>
                  <a:schemeClr val="tx1">
                    <a:lumMod val="95000"/>
                  </a:schemeClr>
                </a:solidFill>
                <a:latin typeface="Bahnschrift Light" panose="020B0502040204020203" pitchFamily="34" charset="0"/>
              </a:rPr>
              <a:t>: menu déroulant</a:t>
            </a:r>
          </a:p>
          <a:p>
            <a:pPr marL="342900" indent="-342900">
              <a:lnSpc>
                <a:spcPct val="200000"/>
              </a:lnSpc>
              <a:buClr>
                <a:srgbClr val="0FE3F9"/>
              </a:buClr>
              <a:buFont typeface="Courier New" panose="02070309020205020404" pitchFamily="49" charset="0"/>
              <a:buChar char="o"/>
            </a:pPr>
            <a:r>
              <a:rPr lang="fr-FR" b="1" dirty="0" smtClean="0">
                <a:solidFill>
                  <a:schemeClr val="tx1">
                    <a:lumMod val="95000"/>
                  </a:schemeClr>
                </a:solidFill>
                <a:latin typeface="Bahnschrift Light" panose="020B0502040204020203" pitchFamily="34" charset="0"/>
              </a:rPr>
              <a:t>Off-</a:t>
            </a:r>
            <a:r>
              <a:rPr lang="fr-FR" b="1" dirty="0" err="1" smtClean="0">
                <a:solidFill>
                  <a:schemeClr val="tx1">
                    <a:lumMod val="95000"/>
                  </a:schemeClr>
                </a:solidFill>
                <a:latin typeface="Bahnschrift Light" panose="020B0502040204020203" pitchFamily="34" charset="0"/>
              </a:rPr>
              <a:t>canvas</a:t>
            </a:r>
            <a:r>
              <a:rPr lang="fr-FR" dirty="0" smtClean="0">
                <a:solidFill>
                  <a:schemeClr val="tx1">
                    <a:lumMod val="95000"/>
                  </a:schemeClr>
                </a:solidFill>
                <a:latin typeface="Bahnschrift Light" panose="020B0502040204020203" pitchFamily="34" charset="0"/>
              </a:rPr>
              <a:t> : menu latéral mobile</a:t>
            </a:r>
            <a:endParaRPr lang="fr-FR" dirty="0" smtClean="0">
              <a:solidFill>
                <a:schemeClr val="tx1">
                  <a:lumMod val="95000"/>
                </a:schemeClr>
              </a:solidFill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2950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25860" y="620688"/>
            <a:ext cx="4104456" cy="936104"/>
          </a:xfrm>
        </p:spPr>
        <p:txBody>
          <a:bodyPr>
            <a:noAutofit/>
          </a:bodyPr>
          <a:lstStyle/>
          <a:p>
            <a:r>
              <a:rPr lang="fr-FR" sz="4000" u="sng" dirty="0" smtClean="0">
                <a:solidFill>
                  <a:srgbClr val="CCFFFF"/>
                </a:solidFill>
                <a:latin typeface="Bahnschrift Condensed" panose="020B0502040204020203" pitchFamily="34" charset="0"/>
              </a:rPr>
              <a:t>Fondation + JavaScript</a:t>
            </a:r>
            <a:r>
              <a:rPr lang="fr-FR" dirty="0"/>
              <a:t/>
            </a:r>
            <a:br>
              <a:rPr lang="fr-FR" dirty="0"/>
            </a:br>
            <a:endParaRPr lang="fr-FR" sz="4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25860" y="1561665"/>
            <a:ext cx="10360501" cy="33843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u="sng" dirty="0" smtClean="0"/>
              <a:t>Fondation fournit des plugins JS pour interactions 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 smtClean="0"/>
              <a:t>Dropdowns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 smtClean="0"/>
              <a:t>Modals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 smtClean="0"/>
              <a:t>Sticky menus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 smtClean="0"/>
              <a:t>Accordions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 smtClean="0"/>
              <a:t>Sliders</a:t>
            </a:r>
          </a:p>
        </p:txBody>
      </p:sp>
    </p:spTree>
    <p:extLst>
      <p:ext uri="{BB962C8B-B14F-4D97-AF65-F5344CB8AC3E}">
        <p14:creationId xmlns:p14="http://schemas.microsoft.com/office/powerpoint/2010/main" val="1780274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97244" y="476672"/>
            <a:ext cx="10360501" cy="661888"/>
          </a:xfrm>
        </p:spPr>
        <p:txBody>
          <a:bodyPr>
            <a:noAutofit/>
          </a:bodyPr>
          <a:lstStyle/>
          <a:p>
            <a:pPr algn="ctr"/>
            <a:r>
              <a:rPr lang="fr-FR" sz="4400" u="sng" dirty="0" smtClean="0">
                <a:solidFill>
                  <a:srgbClr val="CCFFFF"/>
                </a:solidFill>
                <a:latin typeface="Bahnschrift Condensed" panose="020B0502040204020203" pitchFamily="34" charset="0"/>
              </a:rPr>
              <a:t>CONCLUSION</a:t>
            </a:r>
            <a:endParaRPr lang="fr-FR" sz="4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97243" y="1340768"/>
            <a:ext cx="10360501" cy="446227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fr-FR" dirty="0" smtClean="0">
                <a:latin typeface="Bahnschrift Condensed" panose="020B0502040204020203" pitchFamily="34" charset="0"/>
              </a:rPr>
              <a:t>Fondation est un framework : moderne, rapide, très flexible et idéal pour projets responsives.</a:t>
            </a:r>
          </a:p>
          <a:p>
            <a:pPr>
              <a:buFont typeface="Wingdings" panose="05000000000000000000" pitchFamily="2" charset="2"/>
              <a:buChar char="ü"/>
            </a:pPr>
            <a:endParaRPr lang="fr-FR" dirty="0" smtClean="0">
              <a:latin typeface="Bahnschrift Condensed" panose="020B0502040204020203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fr-FR" dirty="0" smtClean="0">
                <a:latin typeface="Bahnschrift Condensed" panose="020B0502040204020203" pitchFamily="34" charset="0"/>
              </a:rPr>
              <a:t>Il convient aussi bien aux débutants qu’aux projets professionnels.</a:t>
            </a:r>
          </a:p>
          <a:p>
            <a:pPr>
              <a:buFont typeface="Wingdings" panose="05000000000000000000" pitchFamily="2" charset="2"/>
              <a:buChar char="ü"/>
            </a:pPr>
            <a:endParaRPr lang="fr-FR" dirty="0" smtClean="0">
              <a:latin typeface="Bahnschrift Condensed" panose="020B0502040204020203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fr-FR" dirty="0" smtClean="0">
                <a:latin typeface="Bahnschrift Condensed" panose="020B0502040204020203" pitchFamily="34" charset="0"/>
              </a:rPr>
              <a:t>Dispose d’une documentation claire et bien organisée.</a:t>
            </a:r>
          </a:p>
          <a:p>
            <a:pPr>
              <a:buFont typeface="Wingdings" panose="05000000000000000000" pitchFamily="2" charset="2"/>
              <a:buChar char="ü"/>
            </a:pPr>
            <a:endParaRPr lang="fr-FR" dirty="0" smtClean="0">
              <a:latin typeface="Bahnschrift Condensed" panose="020B0502040204020203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fr-FR" dirty="0" smtClean="0">
                <a:latin typeface="Bahnschrift Condensed" panose="020B0502040204020203" pitchFamily="34" charset="0"/>
              </a:rPr>
              <a:t>Recommandé pour ceux qui veulent un projet 100% personnalisable, plus flexible que Bootstrap.</a:t>
            </a:r>
          </a:p>
        </p:txBody>
      </p:sp>
    </p:spTree>
    <p:extLst>
      <p:ext uri="{BB962C8B-B14F-4D97-AF65-F5344CB8AC3E}">
        <p14:creationId xmlns:p14="http://schemas.microsoft.com/office/powerpoint/2010/main" val="12800954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57908" y="2780928"/>
            <a:ext cx="9649072" cy="576064"/>
          </a:xfrm>
          <a:effectLst>
            <a:outerShdw blurRad="279400" dist="355600" dir="13500000" sx="19000" sy="19000" algn="t" rotWithShape="0">
              <a:schemeClr val="accent1">
                <a:lumMod val="40000"/>
                <a:lumOff val="60000"/>
                <a:alpha val="20000"/>
              </a:schemeClr>
            </a:outerShdw>
          </a:effectLst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fr-FR" dirty="0" smtClean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Merci de votre attention.</a:t>
            </a:r>
            <a:endParaRPr lang="fr-FR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867400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ologie 16: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57_TF02787990_TF02787990.potx" id="{ABCB071B-19A3-44BE-B302-F4BBE7E3E2D5}" vid="{F4600F28-01B2-4FC5-9857-5FFF9F08051B}"/>
    </a:ext>
  </a:extLst>
</a:theme>
</file>

<file path=ppt/theme/theme2.xml><?xml version="1.0" encoding="utf-8"?>
<a:theme xmlns:a="http://schemas.openxmlformats.org/drawingml/2006/main" name="Thèm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http://purl.org/dc/terms/"/>
    <ds:schemaRef ds:uri="4873beb7-5857-4685-be1f-d57550cc96cc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TM04033929[[fn=Ardoise]]</Template>
  <TotalTime>412</TotalTime>
  <Words>353</Words>
  <Application>Microsoft Office PowerPoint</Application>
  <PresentationFormat>Personnalisé</PresentationFormat>
  <Paragraphs>110</Paragraphs>
  <Slides>13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3" baseType="lpstr">
      <vt:lpstr>Yu Gothic UI Semibold</vt:lpstr>
      <vt:lpstr>Agency FB</vt:lpstr>
      <vt:lpstr>Arial</vt:lpstr>
      <vt:lpstr>Arial Narrow</vt:lpstr>
      <vt:lpstr>Bahnschrift Condensed</vt:lpstr>
      <vt:lpstr>Bahnschrift Light</vt:lpstr>
      <vt:lpstr>Calibri</vt:lpstr>
      <vt:lpstr>Courier New</vt:lpstr>
      <vt:lpstr>Wingdings</vt:lpstr>
      <vt:lpstr>Technologie 16:9</vt:lpstr>
      <vt:lpstr>Foundation - Framework front-end</vt:lpstr>
      <vt:lpstr>INTRODUCTION</vt:lpstr>
      <vt:lpstr>POURQUOI UTILISER FOUNDATION ?</vt:lpstr>
      <vt:lpstr>Installation du Framework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COMPOSANT UI</vt:lpstr>
      <vt:lpstr>Fondation + JavaScript </vt:lpstr>
      <vt:lpstr>CONCLUSION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Disposition de titre</dc:title>
  <dc:creator>Herinjaka</dc:creator>
  <cp:lastModifiedBy>Herinjaka</cp:lastModifiedBy>
  <cp:revision>42</cp:revision>
  <dcterms:created xsi:type="dcterms:W3CDTF">2025-12-04T08:34:55Z</dcterms:created>
  <dcterms:modified xsi:type="dcterms:W3CDTF">2025-12-07T21:10:27Z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